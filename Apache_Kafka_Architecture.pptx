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Kadam" userId="ba52d93786a887c2" providerId="LiveId" clId="{DA908F8E-E8D4-44AC-BB0A-95DD701AB048}"/>
    <pc:docChg chg="undo custSel modSld">
      <pc:chgData name="Ayush Kadam" userId="ba52d93786a887c2" providerId="LiveId" clId="{DA908F8E-E8D4-44AC-BB0A-95DD701AB048}" dt="2026-10-03T15:11:28.698" v="26" actId="14100"/>
      <pc:docMkLst>
        <pc:docMk/>
      </pc:docMkLst>
      <pc:sldChg chg="modSp mod">
        <pc:chgData name="Ayush Kadam" userId="ba52d93786a887c2" providerId="LiveId" clId="{DA908F8E-E8D4-44AC-BB0A-95DD701AB048}" dt="2026-10-03T15:11:28.698" v="26" actId="14100"/>
        <pc:sldMkLst>
          <pc:docMk/>
          <pc:sldMk cId="0" sldId="258"/>
        </pc:sldMkLst>
        <pc:spChg chg="mod">
          <ac:chgData name="Ayush Kadam" userId="ba52d93786a887c2" providerId="LiveId" clId="{DA908F8E-E8D4-44AC-BB0A-95DD701AB048}" dt="2026-10-03T15:11:28.698" v="26" actId="14100"/>
          <ac:spMkLst>
            <pc:docMk/>
            <pc:sldMk cId="0" sldId="258"/>
            <ac:spMk id="6" creationId="{00000000-0000-0000-0000-000000000000}"/>
          </ac:spMkLst>
        </pc:spChg>
      </pc:sldChg>
      <pc:sldChg chg="addSp delSp modSp mod">
        <pc:chgData name="Ayush Kadam" userId="ba52d93786a887c2" providerId="LiveId" clId="{DA908F8E-E8D4-44AC-BB0A-95DD701AB048}" dt="2026-10-03T15:10:49.254" v="20" actId="14100"/>
        <pc:sldMkLst>
          <pc:docMk/>
          <pc:sldMk cId="0" sldId="259"/>
        </pc:sldMkLst>
        <pc:spChg chg="del">
          <ac:chgData name="Ayush Kadam" userId="ba52d93786a887c2" providerId="LiveId" clId="{DA908F8E-E8D4-44AC-BB0A-95DD701AB048}" dt="2026-10-03T15:09:07.025" v="0" actId="21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yush Kadam" userId="ba52d93786a887c2" providerId="LiveId" clId="{DA908F8E-E8D4-44AC-BB0A-95DD701AB048}" dt="2026-10-03T15:09:34.242" v="3" actId="14100"/>
          <ac:spMkLst>
            <pc:docMk/>
            <pc:sldMk cId="0" sldId="259"/>
            <ac:spMk id="26" creationId="{00000000-0000-0000-0000-000000000000}"/>
          </ac:spMkLst>
        </pc:spChg>
        <pc:spChg chg="add del">
          <ac:chgData name="Ayush Kadam" userId="ba52d93786a887c2" providerId="LiveId" clId="{DA908F8E-E8D4-44AC-BB0A-95DD701AB048}" dt="2026-10-03T15:09:10.826" v="2" actId="21"/>
          <ac:spMkLst>
            <pc:docMk/>
            <pc:sldMk cId="0" sldId="259"/>
            <ac:spMk id="28" creationId="{BC78E40C-9E4B-6891-EFE1-68EC5B00DFB0}"/>
          </ac:spMkLst>
        </pc:spChg>
        <pc:spChg chg="add del">
          <ac:chgData name="Ayush Kadam" userId="ba52d93786a887c2" providerId="LiveId" clId="{DA908F8E-E8D4-44AC-BB0A-95DD701AB048}" dt="2026-10-03T15:09:46.969" v="5" actId="22"/>
          <ac:spMkLst>
            <pc:docMk/>
            <pc:sldMk cId="0" sldId="259"/>
            <ac:spMk id="30" creationId="{C6D59DC0-5938-D57F-F031-A8E230EE1CA3}"/>
          </ac:spMkLst>
        </pc:spChg>
        <pc:spChg chg="add mod">
          <ac:chgData name="Ayush Kadam" userId="ba52d93786a887c2" providerId="LiveId" clId="{DA908F8E-E8D4-44AC-BB0A-95DD701AB048}" dt="2026-10-03T15:10:49.254" v="20" actId="14100"/>
          <ac:spMkLst>
            <pc:docMk/>
            <pc:sldMk cId="0" sldId="259"/>
            <ac:spMk id="32" creationId="{71B56EDF-0723-9597-D118-9E9CF3F06A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28655" cy="29260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6B00"/>
                </a:solidFill>
              </a:defRPr>
            </a:pPr>
            <a:r>
              <a:t>DATA ENGINEERING &amp; DISTRIBUTED SYSTEMS</a:t>
            </a:r>
          </a:p>
          <a:p>
            <a:pPr>
              <a:spcAft>
                <a:spcPts val="1000"/>
              </a:spcAft>
              <a:defRPr sz="3800" b="1">
                <a:solidFill>
                  <a:srgbClr val="F8FAFC"/>
                </a:solidFill>
              </a:defRPr>
            </a:pPr>
            <a:r>
              <a:t>Architecture of Apache Kafka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High-Throughput Distributed Event Streaming, Storage Internals &amp; Fault-Tolerant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3332073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2966313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B4D8"/>
                </a:solidFill>
              </a:defRPr>
            </a:pPr>
            <a:r>
              <a:t>HIGH THROUGHPUT</a:t>
            </a:r>
          </a:p>
          <a:p>
            <a:pPr>
              <a:spcAft>
                <a:spcPts val="600"/>
              </a:spcAft>
              <a:defRPr sz="2400" b="1">
                <a:solidFill>
                  <a:srgbClr val="F8FAFC"/>
                </a:solidFill>
              </a:defRPr>
            </a:pPr>
            <a:r>
              <a:t>1M+ req/sec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Zero-copy network transfer &amp; sequential append-only disk log I/O.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3931920"/>
            <a:ext cx="3332073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2233" y="4114800"/>
            <a:ext cx="2966313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HIGH AVAILABILITY</a:t>
            </a:r>
          </a:p>
          <a:p>
            <a:pPr>
              <a:spcAft>
                <a:spcPts val="600"/>
              </a:spcAft>
              <a:defRPr sz="2400" b="1">
                <a:solidFill>
                  <a:srgbClr val="F8FAFC"/>
                </a:solidFill>
              </a:defRPr>
            </a:pPr>
            <a:r>
              <a:t>Zero Data Loss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In-Sync Replicas (ISR), configurable Leader/Follower ACK guarantees.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187" y="3931920"/>
            <a:ext cx="3332073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10067" y="4114800"/>
            <a:ext cx="2966313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DECOUPLED PIPELINES</a:t>
            </a:r>
          </a:p>
          <a:p>
            <a:pPr>
              <a:spcAft>
                <a:spcPts val="600"/>
              </a:spcAft>
              <a:defRPr sz="2400" b="1">
                <a:solidFill>
                  <a:srgbClr val="F8FAFC"/>
                </a:solidFill>
              </a:defRPr>
            </a:pPr>
            <a:r>
              <a:t>Pub/Sub Model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Scalable parallel consumer groups with pull-based streaming.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FOUNDATIONAL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What is Apache Kafka? Paradigm Shift in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8099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1523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F6B00"/>
                </a:solidFill>
              </a:defRPr>
            </a:pPr>
            <a:r>
              <a:t>CORE ARCHITECTURAL PARADIGM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F6B00"/>
                </a:solidFill>
                <a:latin typeface="Arial"/>
              </a:rPr>
              <a:t>Distributed Commit Log: </a:t>
            </a:r>
            <a:r>
              <a:rPr sz="1300">
                <a:solidFill>
                  <a:srgbClr val="CBD5E1"/>
                </a:solidFill>
                <a:latin typeface="Arial"/>
              </a:rPr>
              <a:t>Kafka is fundamentally an append-only, immutable distributed commit log stored sequentially on disk across a cluster of brokers.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Event Streaming vs Queues: </a:t>
            </a:r>
            <a:r>
              <a:rPr sz="1300">
                <a:solidFill>
                  <a:srgbClr val="CBD5E1"/>
                </a:solidFill>
                <a:latin typeface="Arial"/>
              </a:rPr>
              <a:t>Traditional queues delete messages after consumption. Kafka retains events durably for a configurable period (e.g. 7 days or infinite).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Pull-Based Consumption: </a:t>
            </a:r>
            <a:r>
              <a:rPr sz="1300">
                <a:solidFill>
                  <a:srgbClr val="CBD5E1"/>
                </a:solidFill>
                <a:latin typeface="Arial"/>
              </a:rPr>
              <a:t>Consumers pull records at their own speed. Slow consumers won't get overwhelmed or crash upstream producers.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High Scale &amp; Replayability: </a:t>
            </a:r>
            <a:r>
              <a:rPr sz="1300">
                <a:solidFill>
                  <a:srgbClr val="CBD5E1"/>
                </a:solidFill>
                <a:latin typeface="Arial"/>
              </a:rPr>
              <a:t>Events can be re-processed from any historical offset, enabling time-travel data backfills and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371600"/>
            <a:ext cx="518099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150" y="1554480"/>
            <a:ext cx="481523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B4D8"/>
                </a:solidFill>
              </a:defRPr>
            </a:pPr>
            <a:r>
              <a:t>REAL-TIME EXAMPLE &amp; DECOUPLING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Real-Time Example: </a:t>
            </a:r>
            <a:r>
              <a:rPr sz="1300">
                <a:solidFill>
                  <a:srgbClr val="CBD5E1"/>
                </a:solidFill>
                <a:latin typeface="Arial"/>
              </a:rPr>
              <a:t>E-Commerce Order Flow (Amazon / Shopify). When a user buys an item, an 'Order Placed' event is emitted once to Kafka.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Parallel Microservices: </a:t>
            </a:r>
            <a:r>
              <a:rPr sz="1300">
                <a:solidFill>
                  <a:srgbClr val="CBD5E1"/>
                </a:solidFill>
                <a:latin typeface="Arial"/>
              </a:rPr>
              <a:t>Payment Service, Inventory System, Shipping Pipeline, and Fraud Engine all consume the single event concurrently.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931920"/>
            <a:ext cx="4754880" cy="21031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Legacy Direct API vs Kafka Mesh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Legacy (Monolithic): N x M direct REST calls create tight coupling and cascading failures.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• Kafka Mesh: Single source of event truth. Producers don't know who consumers are!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SYSTEM COMPONENT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High-Level Architecture &amp; Component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691640"/>
            <a:ext cx="2926080" cy="1371600"/>
          </a:xfrm>
          <a:prstGeom prst="roundRect">
            <a:avLst/>
          </a:prstGeom>
          <a:solidFill>
            <a:srgbClr val="263355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9251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00"/>
                </a:solidFill>
              </a:defRPr>
            </a:pPr>
            <a:r>
              <a:rPr sz="1600" dirty="0"/>
              <a:t>PRODUCERS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rPr sz="1200" dirty="0"/>
              <a:t>Web Apps, Microservices,</a:t>
            </a:r>
            <a:br>
              <a:rPr sz="1200" dirty="0"/>
            </a:br>
            <a:r>
              <a:rPr sz="1200" dirty="0"/>
              <a:t>IoT Devices, Database CDC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11680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B4D8"/>
                </a:solidFill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350" y="1691640"/>
            <a:ext cx="2926080" cy="1371600"/>
          </a:xfrm>
          <a:prstGeom prst="roundRect">
            <a:avLst/>
          </a:prstGeom>
          <a:solidFill>
            <a:srgbClr val="26335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2350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KAFKA CLUSTER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Broker 1  |  Broker 2  |  Broker 3</a:t>
            </a:r>
            <a:br/>
            <a:r>
              <a:t>[ KRaft Consensus Quorum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430" y="2011680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B4D8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9775" y="1691640"/>
            <a:ext cx="2926080" cy="1371600"/>
          </a:xfrm>
          <a:prstGeom prst="roundRect">
            <a:avLst/>
          </a:prstGeom>
          <a:solidFill>
            <a:srgbClr val="2633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9775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CONSUMER GROUPS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Analytics Engines, ML Pipelines,</a:t>
            </a:r>
            <a:br/>
            <a:r>
              <a:t>ElasticSearch, Data Warehouses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332073" cy="27432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296631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6B00"/>
                </a:solidFill>
              </a:defRPr>
            </a:pPr>
            <a:r>
              <a:t>1. PRODUCER ROLE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6B00"/>
                </a:solidFill>
                <a:latin typeface="Arial"/>
              </a:rPr>
              <a:t>Push Model: </a:t>
            </a:r>
            <a:r>
              <a:rPr sz="1300">
                <a:solidFill>
                  <a:srgbClr val="CBD5E1"/>
                </a:solidFill>
                <a:latin typeface="Arial"/>
              </a:rPr>
              <a:t>Pushes record batches directly to partition leader brokers.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BD5E1"/>
                </a:solidFill>
                <a:latin typeface="Arial"/>
              </a:rPr>
              <a:t>Routing: </a:t>
            </a:r>
            <a:r>
              <a:rPr sz="1300">
                <a:solidFill>
                  <a:srgbClr val="CBD5E1"/>
                </a:solidFill>
                <a:latin typeface="Arial"/>
              </a:rPr>
              <a:t>Uses key hash or round-robin for partition routing.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9353" y="3657600"/>
            <a:ext cx="3332073" cy="27432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2233" y="3840480"/>
            <a:ext cx="296631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B4D8"/>
                </a:solidFill>
              </a:defRPr>
            </a:pPr>
            <a:r>
              <a:t>2. BROKER CLUSTER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Storage Node: </a:t>
            </a:r>
            <a:r>
              <a:rPr sz="1300">
                <a:solidFill>
                  <a:srgbClr val="CBD5E1"/>
                </a:solidFill>
                <a:latin typeface="Arial"/>
              </a:rPr>
              <a:t>Stores log segments on disk and serves client requests.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BD5E1"/>
                </a:solidFill>
                <a:latin typeface="Arial"/>
              </a:rPr>
              <a:t>Replication: </a:t>
            </a:r>
            <a:r>
              <a:rPr sz="1300">
                <a:solidFill>
                  <a:srgbClr val="CBD5E1"/>
                </a:solidFill>
                <a:latin typeface="Arial"/>
              </a:rPr>
              <a:t>Maintains leader/follower partition replicas for HA.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187" y="3657600"/>
            <a:ext cx="3332073" cy="27432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0067" y="3840480"/>
            <a:ext cx="296631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3. CONSUMER ROLE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Pull Model: </a:t>
            </a:r>
            <a:r>
              <a:rPr sz="1300">
                <a:solidFill>
                  <a:srgbClr val="CBD5E1"/>
                </a:solidFill>
                <a:latin typeface="Arial"/>
              </a:rPr>
              <a:t>Pulls event batches asynchronously using offsets.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BD5E1"/>
                </a:solidFill>
                <a:latin typeface="Arial"/>
              </a:rPr>
              <a:t>Group Scale: </a:t>
            </a:r>
            <a:r>
              <a:rPr sz="1300">
                <a:solidFill>
                  <a:srgbClr val="CBD5E1"/>
                </a:solidFill>
                <a:latin typeface="Arial"/>
              </a:rPr>
              <a:t>Coordinates partition ownership within group.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CORE DATA ABSTRACTION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Topics, Partitions &amp; Monotonic Offsets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59E0B"/>
                </a:solidFill>
              </a:defRPr>
            </a:pPr>
            <a:r>
              <a:t>DEFINITIONS &amp; ORDERING RULES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Topic: </a:t>
            </a:r>
            <a:r>
              <a:rPr sz="1300">
                <a:solidFill>
                  <a:srgbClr val="CBD5E1"/>
                </a:solidFill>
                <a:latin typeface="Arial"/>
              </a:rPr>
              <a:t>Logical stream name (e.g. 'order-events' or 'sensor-telemetry'). Analogy: A database table name.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Partition: </a:t>
            </a:r>
            <a:r>
              <a:rPr sz="1300">
                <a:solidFill>
                  <a:srgbClr val="CBD5E1"/>
                </a:solidFill>
                <a:latin typeface="Arial"/>
              </a:rPr>
              <a:t>A topic is split into physical partitions distributed across cluster brokers for throughput.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Offset: </a:t>
            </a:r>
            <a:r>
              <a:rPr sz="1300">
                <a:solidFill>
                  <a:srgbClr val="CBD5E1"/>
                </a:solidFill>
                <a:latin typeface="Arial"/>
              </a:rPr>
              <a:t>A unique, incremental 64-bit integer ID assigned to every message written to a partition.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6B00"/>
                </a:solidFill>
                <a:latin typeface="Arial"/>
              </a:rPr>
              <a:t>CRITICAL ORDERING RULE: </a:t>
            </a:r>
            <a:r>
              <a:rPr sz="1300">
                <a:solidFill>
                  <a:srgbClr val="CBD5E1"/>
                </a:solidFill>
                <a:latin typeface="Arial"/>
              </a:rPr>
              <a:t>Ordering is guaranteed STRICTLY WITHIN A PARTITION. Messages across different partitions are not globally ordered!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425135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593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B4D8"/>
                </a:solidFill>
              </a:defRPr>
            </a:pPr>
            <a:r>
              <a:rPr dirty="0"/>
              <a:t>TOPIC: 'order-events' (PARTITION LAYOUT)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Partition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19456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19456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19456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219456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2194560"/>
            <a:ext cx="621792" cy="502920"/>
          </a:xfrm>
          <a:prstGeom prst="roundRect">
            <a:avLst/>
          </a:prstGeom>
          <a:solidFill>
            <a:srgbClr val="10B981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918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Partition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29184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29184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291840"/>
            <a:ext cx="621792" cy="502920"/>
          </a:xfrm>
          <a:prstGeom prst="roundRect">
            <a:avLst/>
          </a:prstGeom>
          <a:solidFill>
            <a:srgbClr val="10B981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329184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389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Partition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38912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438912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38912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438912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t>Offset</a:t>
            </a:r>
            <a:br/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0" y="4389120"/>
            <a:ext cx="621792" cy="50292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rPr dirty="0"/>
              <a:t>Offset</a:t>
            </a:r>
            <a:br>
              <a:rPr dirty="0"/>
            </a:br>
            <a:r>
              <a:rPr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669278"/>
            <a:ext cx="48141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■ Green Cell = Current Consumer Read Offset Pointer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New records are continuously appended to the tail of each partition.</a:t>
            </a:r>
          </a:p>
        </p:txBody>
      </p:sp>
      <p:sp>
        <p:nvSpPr>
          <p:cNvPr id="32" name="Rounded Rectangle 24">
            <a:extLst>
              <a:ext uri="{FF2B5EF4-FFF2-40B4-BE49-F238E27FC236}">
                <a16:creationId xmlns:a16="http://schemas.microsoft.com/office/drawing/2014/main" id="{71B56EDF-0723-9597-D118-9E9CF3F06A54}"/>
              </a:ext>
            </a:extLst>
          </p:cNvPr>
          <p:cNvSpPr/>
          <p:nvPr/>
        </p:nvSpPr>
        <p:spPr>
          <a:xfrm>
            <a:off x="10515600" y="4983479"/>
            <a:ext cx="621792" cy="502920"/>
          </a:xfrm>
          <a:prstGeom prst="roundRect">
            <a:avLst/>
          </a:prstGeom>
          <a:solidFill>
            <a:srgbClr val="10B981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8FAFC"/>
                </a:solidFill>
              </a:defRPr>
            </a:pPr>
            <a:r>
              <a:rPr dirty="0"/>
              <a:t>Offset</a:t>
            </a:r>
            <a:br>
              <a:rPr dirty="0"/>
            </a:b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STORAGE &amp; PERFORMANCE INTERNALS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Why Kafka is Fast: Commit Log &amp; Zero-Copy I/O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8099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1523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1. SEQUENTIAL DISK I/O &amp; PAGE CACHE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Sequential vs Random I/O: </a:t>
            </a:r>
            <a:r>
              <a:rPr sz="1300">
                <a:solidFill>
                  <a:srgbClr val="CBD5E1"/>
                </a:solidFill>
                <a:latin typeface="Arial"/>
              </a:rPr>
              <a:t>Sequential disk writes operate at ~600 MB/s, matching RAM speed because disk heads don't need physical seek movement.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Linux OS Page Cache: </a:t>
            </a:r>
            <a:r>
              <a:rPr sz="1300">
                <a:solidFill>
                  <a:srgbClr val="CBD5E1"/>
                </a:solidFill>
                <a:latin typeface="Arial"/>
              </a:rPr>
              <a:t>Kafka writes records directly to the OS Page Cache. Data stays cached in RAM without JVM GC overhead.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Log Segment Files: </a:t>
            </a:r>
            <a:r>
              <a:rPr sz="1300">
                <a:solidFill>
                  <a:srgbClr val="CBD5E1"/>
                </a:solidFill>
                <a:latin typeface="Arial"/>
              </a:rPr>
              <a:t>Partitions are stored on disk as immutable segment files (.log) with binary index files (.index) for O(1) offset lookup.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371600"/>
            <a:ext cx="518099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150" y="1554480"/>
            <a:ext cx="481523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6B00"/>
                </a:solidFill>
              </a:defRPr>
            </a:pPr>
            <a:r>
              <a:t>2. ZERO-COPY NETWORK TRANSFER (sendfile)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103120"/>
            <a:ext cx="4754880" cy="182880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94A3B8"/>
                </a:solidFill>
              </a:defRPr>
            </a:pPr>
            <a:r>
              <a:t>TRADITIONAL TRANSFER (4 Copies, 4 Context Switches)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Disk ➔ OS Page Cache ➔ App User Buffer ➔ Socket Buffer ➔ NIC Buffer</a:t>
            </a:r>
          </a:p>
          <a:p>
            <a:pPr>
              <a:defRPr sz="1000">
                <a:solidFill>
                  <a:srgbClr val="F59E0B"/>
                </a:solidFill>
              </a:defRPr>
            </a:pPr>
            <a:r>
              <a:t>• Massive CPU context switching &amp; RAM copying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14800"/>
            <a:ext cx="4754880" cy="1920240"/>
          </a:xfrm>
          <a:prstGeom prst="roundRect">
            <a:avLst/>
          </a:prstGeom>
          <a:solidFill>
            <a:srgbClr val="263355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F6B00"/>
                </a:solidFill>
              </a:defRPr>
            </a:pPr>
            <a:r>
              <a:t>KAFKA ZERO-COPY (sendfile system call)</a:t>
            </a:r>
          </a:p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Disk ➔ OS Page Cache ------------------------➔ NIC Buffer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Bypasses user space entirely! Data is copied directly by DMA engine, saturating network links at line speed.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PRODUCER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Producer Routing, Batching &amp; Real-Time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8099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1523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B4D8"/>
                </a:solidFill>
              </a:defRPr>
            </a:pPr>
            <a:r>
              <a:t>PARTITION ROUTING STRATEGIES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1. Key-Based Hashing: </a:t>
            </a:r>
            <a:r>
              <a:rPr sz="1300">
                <a:solidFill>
                  <a:srgbClr val="CBD5E1"/>
                </a:solidFill>
                <a:latin typeface="Arial"/>
              </a:rPr>
              <a:t>MurmurHash2(Key) % NumPartitions. Guarantees that all events with the same key land on the EXACT SAME partition.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2. Sticky Partitioner: </a:t>
            </a:r>
            <a:r>
              <a:rPr sz="1300">
                <a:solidFill>
                  <a:srgbClr val="CBD5E1"/>
                </a:solidFill>
                <a:latin typeface="Arial"/>
              </a:rPr>
              <a:t>When no key is specified, Kafka batches records into a single partition until full, maximizing compression &amp; TCP packet efficiency.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3. Custom Partitioner: </a:t>
            </a:r>
            <a:r>
              <a:rPr sz="1300">
                <a:solidFill>
                  <a:srgbClr val="CBD5E1"/>
                </a:solidFill>
                <a:latin typeface="Arial"/>
              </a:rPr>
              <a:t>Implement custom business logic (e.g. routing high-priority VIP customer events to dedicated partitions).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371600"/>
            <a:ext cx="518099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150" y="1554480"/>
            <a:ext cx="481523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REAL-TIME EXAMPLE: UBER DRIVER TELEMETRY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Scenario: </a:t>
            </a:r>
            <a:r>
              <a:rPr sz="1300">
                <a:solidFill>
                  <a:srgbClr val="CBD5E1"/>
                </a:solidFill>
                <a:latin typeface="Arial"/>
              </a:rPr>
              <a:t>Millions of drivers stream GPS location updates (lat, long, speed) every 2 seconds.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Partition Key Strategy: </a:t>
            </a:r>
            <a:r>
              <a:rPr sz="1300">
                <a:solidFill>
                  <a:srgbClr val="CBD5E1"/>
                </a:solidFill>
                <a:latin typeface="Arial"/>
              </a:rPr>
              <a:t>Set Record Key = 'driver_id' (e.g. driver_8841).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474720"/>
            <a:ext cx="4754880" cy="246888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Why Key Partitioning Matters Here: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1. Driver 8841 updates land exclusively in Partition 2.</a:t>
            </a:r>
          </a:p>
          <a:p>
            <a:pPr>
              <a:spcAft>
                <a:spcPts val="400"/>
              </a:spcAft>
              <a:defRPr sz="1100">
                <a:solidFill>
                  <a:srgbClr val="10B981"/>
                </a:solidFill>
              </a:defRPr>
            </a:pPr>
            <a:r>
              <a:t>2. Chronological sequence is preserved 100% in order.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3. Downstream ETA &amp; fare calculation engines receive accurate location trajectory without out-of-order jitter!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CLUSTER MANAGEMENT &amp; CONSENSUS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Broker Cluster &amp; Consensus: ZooKeeper to KRaft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80990" cy="28346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1523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LEGACY ARCHITECTURE: ZOOKEEPER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External Ensemble: </a:t>
            </a:r>
            <a:r>
              <a:rPr sz="1300">
                <a:solidFill>
                  <a:srgbClr val="CBD5E1"/>
                </a:solidFill>
                <a:latin typeface="Arial"/>
              </a:rPr>
              <a:t>Requires separate 3 or 5 node ZooKeeper cluster for metadata.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BD5E1"/>
                </a:solidFill>
                <a:latin typeface="Arial"/>
              </a:rPr>
              <a:t>Scale Limit: </a:t>
            </a:r>
            <a:r>
              <a:rPr sz="1300">
                <a:solidFill>
                  <a:srgbClr val="CBD5E1"/>
                </a:solidFill>
                <a:latin typeface="Arial"/>
              </a:rPr>
              <a:t>Metadata sync bottleneck when scaling past 200,000 partitions.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371600"/>
            <a:ext cx="5180990" cy="28346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150" y="1508760"/>
            <a:ext cx="481523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MODERN ARCHITECTURE: KRAFT (KIP-500)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Internal Metadata Quorum: </a:t>
            </a:r>
            <a:r>
              <a:rPr sz="1300">
                <a:solidFill>
                  <a:srgbClr val="CBD5E1"/>
                </a:solidFill>
                <a:latin typeface="Arial"/>
              </a:rPr>
              <a:t>Event-based Raft consensus runs directly inside Kafka brokers.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Sub-Second Failover: </a:t>
            </a:r>
            <a:r>
              <a:rPr sz="1300">
                <a:solidFill>
                  <a:srgbClr val="CBD5E1"/>
                </a:solidFill>
                <a:latin typeface="Arial"/>
              </a:rPr>
              <a:t>Supports 1 Million+ partitions with instant controller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728655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B4D8"/>
                </a:solidFill>
              </a:defRPr>
            </a:pPr>
            <a:r>
              <a:t>BROKER NODE CORE RESPONSIBILITIES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Network I/O &amp; Client Requests: </a:t>
            </a:r>
            <a:r>
              <a:rPr sz="1300">
                <a:solidFill>
                  <a:srgbClr val="CBD5E1"/>
                </a:solidFill>
                <a:latin typeface="Arial"/>
              </a:rPr>
              <a:t>Handles Produce, Fetch, and Metadata requests from clients.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BD5E1"/>
                </a:solidFill>
                <a:latin typeface="Arial"/>
              </a:rPr>
              <a:t>Retention Policies: </a:t>
            </a:r>
            <a:r>
              <a:rPr sz="1300">
                <a:solidFill>
                  <a:srgbClr val="CBD5E1"/>
                </a:solidFill>
                <a:latin typeface="Arial"/>
              </a:rPr>
              <a:t>Executes automated log cleanup based on retention time (e.g. 7 days) or topic size limits (e.g. 50GB).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Log Compaction: </a:t>
            </a:r>
            <a:r>
              <a:rPr sz="1300">
                <a:solidFill>
                  <a:srgbClr val="CBD5E1"/>
                </a:solidFill>
                <a:latin typeface="Arial"/>
              </a:rPr>
              <a:t>Retains only the latest message value for each key, ideal for state restoration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HIGH AVAILABILITY &amp; DURABILITY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Replication Factor, In-Sync Replicas &amp; 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8099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1523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REPLICATION &amp; LEADER/FOLLOWER MODEL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Leader Replica: </a:t>
            </a:r>
            <a:r>
              <a:rPr sz="1300">
                <a:solidFill>
                  <a:srgbClr val="CBD5E1"/>
                </a:solidFill>
                <a:latin typeface="Arial"/>
              </a:rPr>
              <a:t>One broker acts as Leader for a partition. All client writes and reads go through the Leader.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Follower Replicas: </a:t>
            </a:r>
            <a:r>
              <a:rPr sz="1300">
                <a:solidFill>
                  <a:srgbClr val="CBD5E1"/>
                </a:solidFill>
                <a:latin typeface="Arial"/>
              </a:rPr>
              <a:t>Followers passively fetch log records from the Leader to replicate data across nodes.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In-Sync Replicas (ISR): </a:t>
            </a:r>
            <a:r>
              <a:rPr sz="1300">
                <a:solidFill>
                  <a:srgbClr val="CBD5E1"/>
                </a:solidFill>
                <a:latin typeface="Arial"/>
              </a:rPr>
              <a:t>Set of followers actively caught up with the Leader's high watermark within replica.lag.time.max.ms.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6B00"/>
                </a:solidFill>
                <a:latin typeface="Arial"/>
              </a:rPr>
              <a:t>Automatic Leader Election: </a:t>
            </a:r>
            <a:r>
              <a:rPr sz="1300">
                <a:solidFill>
                  <a:srgbClr val="CBD5E1"/>
                </a:solidFill>
                <a:latin typeface="Arial"/>
              </a:rPr>
              <a:t>If Leader broker fails, KRaft instantly promotes an ISR follower to be the new Leader.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371600"/>
            <a:ext cx="518099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150" y="1554480"/>
            <a:ext cx="481523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6B00"/>
                </a:solidFill>
              </a:defRPr>
            </a:pPr>
            <a:r>
              <a:t>PRODUCER ACKS &amp; DURABILITY LEVELS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94A3B8"/>
                </a:solidFill>
                <a:latin typeface="Arial"/>
              </a:rPr>
              <a:t>acks = 0 (Fire &amp; Forget): </a:t>
            </a:r>
            <a:r>
              <a:rPr sz="1300">
                <a:solidFill>
                  <a:srgbClr val="CBD5E1"/>
                </a:solidFill>
                <a:latin typeface="Arial"/>
              </a:rPr>
              <a:t>Producer doesn't wait for acknowledgement. Max throughput, high data loss risk.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acks = 1 (Leader Ack): </a:t>
            </a:r>
            <a:r>
              <a:rPr sz="1300">
                <a:solidFill>
                  <a:srgbClr val="CBD5E1"/>
                </a:solidFill>
                <a:latin typeface="Arial"/>
              </a:rPr>
              <a:t>Producer waits for Leader to write record to local log. Balanced throughput.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acks = all / -1 (ISR Ack): </a:t>
            </a:r>
            <a:r>
              <a:rPr sz="1300">
                <a:solidFill>
                  <a:srgbClr val="CBD5E1"/>
                </a:solidFill>
                <a:latin typeface="Arial"/>
              </a:rPr>
              <a:t>Producer waits for Leader AND all ISR followers to write. ZERO DATA LOSS guarantee!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663440"/>
            <a:ext cx="4754880" cy="1371600"/>
          </a:xfrm>
          <a:prstGeom prst="roundRect">
            <a:avLst/>
          </a:prstGeom>
          <a:solidFill>
            <a:srgbClr val="26335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Recommended Enterprise HA Config: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Replication Factor = 3  |  min.insync.replicas = 2  |  acks = all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Tolerates up to 2 broker failures without data loss!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CONSUMER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Consumer Groups, Parallelism &amp; Rebalancing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8099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1523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</a:defRPr>
            </a:pPr>
            <a:r>
              <a:t>PARALLEL CONSUMPTION &amp; SCALING LAWS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Consumer Group Pattern: </a:t>
            </a:r>
            <a:r>
              <a:rPr sz="1300">
                <a:solidFill>
                  <a:srgbClr val="CBD5E1"/>
                </a:solidFill>
                <a:latin typeface="Arial"/>
              </a:rPr>
              <a:t>A group of worker processes sharing partition workload for scalable consumption.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1 Partition = 1 Consumer: </a:t>
            </a:r>
            <a:r>
              <a:rPr sz="1300">
                <a:solidFill>
                  <a:srgbClr val="CBD5E1"/>
                </a:solidFill>
                <a:latin typeface="Arial"/>
              </a:rPr>
              <a:t>Each partition is assigned to AT MOST one consumer inside a group to prevent duplicate reads.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Scaling Rule: </a:t>
            </a:r>
            <a:r>
              <a:rPr sz="1300">
                <a:solidFill>
                  <a:srgbClr val="CBD5E1"/>
                </a:solidFill>
                <a:latin typeface="Arial"/>
              </a:rPr>
              <a:t>Max active consumers in a group = Total number of partitions. Excess consumers sit idle as backups!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6B00"/>
                </a:solidFill>
                <a:latin typeface="Arial"/>
              </a:rPr>
              <a:t>Offset Commits: </a:t>
            </a:r>
            <a:r>
              <a:rPr sz="1300">
                <a:solidFill>
                  <a:srgbClr val="CBD5E1"/>
                </a:solidFill>
                <a:latin typeface="Arial"/>
              </a:rPr>
              <a:t>Consumers commit processed offsets (__consumer_offsets topic) enabling At-Least-Once or Exactly-Once semantics.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371600"/>
            <a:ext cx="518099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150" y="1554480"/>
            <a:ext cx="481523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B4D8"/>
                </a:solidFill>
              </a:defRPr>
            </a:pPr>
            <a:r>
              <a:t>REBALANCING &amp; REAL-TIME BANKING EXAMPLE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Group Coordinator &amp; Rebalancing: </a:t>
            </a:r>
            <a:r>
              <a:rPr sz="1300">
                <a:solidFill>
                  <a:srgbClr val="CBD5E1"/>
                </a:solidFill>
                <a:latin typeface="Arial"/>
              </a:rPr>
              <a:t>When a consumer node fails or joins, the broker coordinator redistributes partition assignments automatically.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Real-Time Example: </a:t>
            </a:r>
            <a:r>
              <a:rPr sz="1300">
                <a:solidFill>
                  <a:srgbClr val="CBD5E1"/>
                </a:solidFill>
                <a:latin typeface="Arial"/>
              </a:rPr>
              <a:t>Financial Fraud Detection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566160"/>
            <a:ext cx="4754880" cy="2377440"/>
          </a:xfrm>
          <a:prstGeom prst="roundRect">
            <a:avLst/>
          </a:prstGeom>
          <a:solidFill>
            <a:srgbClr val="263355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Banking Stream (8 Partitions):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• 4 Fraud Consumer Worker Instances in Group.</a:t>
            </a:r>
          </a:p>
          <a:p>
            <a:pPr>
              <a:spcAft>
                <a:spcPts val="200"/>
              </a:spcAft>
              <a:defRPr sz="1000">
                <a:solidFill>
                  <a:srgbClr val="10B981"/>
                </a:solidFill>
              </a:defRPr>
            </a:pPr>
            <a:r>
              <a:t>• Allocation: Each Worker inspects 2 Partitions in parallel.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Result: High-volume credit card swipes analyzed for fraud under 10 milliseconds across all partitions!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Architecture Summary &amp; Enterprise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6B00"/>
                </a:solidFill>
              </a:defRPr>
            </a:pPr>
            <a:r>
              <a:t>5 KAFKA ARCHITECTURAL PILLARS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6B00"/>
                </a:solidFill>
                <a:latin typeface="Arial"/>
              </a:rPr>
              <a:t>1. Append-Only Log: </a:t>
            </a:r>
            <a:r>
              <a:rPr sz="1300">
                <a:solidFill>
                  <a:srgbClr val="CBD5E1"/>
                </a:solidFill>
                <a:latin typeface="Arial"/>
              </a:rPr>
              <a:t>Immutable, sequential disk storage yielding extreme I/O speed.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  <a:latin typeface="Arial"/>
              </a:rPr>
              <a:t>2. Zero-Copy I/O: </a:t>
            </a:r>
            <a:r>
              <a:rPr sz="1300">
                <a:solidFill>
                  <a:srgbClr val="CBD5E1"/>
                </a:solidFill>
                <a:latin typeface="Arial"/>
              </a:rPr>
              <a:t>Kernel Page Cache to NIC DMA bypasses CPU &amp; memory context switches.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3. Partition Scale: </a:t>
            </a:r>
            <a:r>
              <a:rPr sz="1300">
                <a:solidFill>
                  <a:srgbClr val="CBD5E1"/>
                </a:solidFill>
                <a:latin typeface="Arial"/>
              </a:rPr>
              <a:t>Horizontal linear scalability for parallel producers &amp; consumer groups.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4. KRaft Consensus: </a:t>
            </a:r>
            <a:r>
              <a:rPr sz="1300">
                <a:solidFill>
                  <a:srgbClr val="CBD5E1"/>
                </a:solidFill>
                <a:latin typeface="Arial"/>
              </a:rPr>
              <a:t>Native internal Raft metadata log eliminating ZooKeeper dependencies.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A855F7"/>
                </a:solidFill>
                <a:latin typeface="Arial"/>
              </a:rPr>
              <a:t>5. ISR Replication: </a:t>
            </a:r>
            <a:r>
              <a:rPr sz="1300">
                <a:solidFill>
                  <a:srgbClr val="CBD5E1"/>
                </a:solidFill>
                <a:latin typeface="Arial"/>
              </a:rPr>
              <a:t>Primary-backup leader/follower model delivering zero data loss 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4876495" cy="4937760"/>
          </a:xfrm>
          <a:prstGeom prst="roundRect">
            <a:avLst/>
          </a:prstGeom>
          <a:solidFill>
            <a:srgbClr val="2633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2011680"/>
            <a:ext cx="45107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0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1600" b="1">
                <a:solidFill>
                  <a:srgbClr val="10B981"/>
                </a:solidFill>
              </a:defRPr>
            </a:pPr>
            <a:r>
              <a:t>Questions &amp; Architectural Discussion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840480"/>
            <a:ext cx="4144975" cy="182880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Enterprise Event Streaming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Adopted by 80%+ of Fortune 100 Companies</a:t>
            </a:r>
            <a:br/>
            <a:r>
              <a:t>(LinkedIn, Netflix, Uber, PayPal, Goldman Sachs)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1598</Words>
  <Application>Microsoft Office PowerPoint</Application>
  <PresentationFormat>Widescreen</PresentationFormat>
  <Paragraphs>150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Kadam</cp:lastModifiedBy>
  <cp:revision>1</cp:revision>
  <dcterms:created xsi:type="dcterms:W3CDTF">2013-01-27T09:14:16Z</dcterms:created>
  <dcterms:modified xsi:type="dcterms:W3CDTF">2026-10-03T15:11:33Z</dcterms:modified>
  <cp:category/>
</cp:coreProperties>
</file>